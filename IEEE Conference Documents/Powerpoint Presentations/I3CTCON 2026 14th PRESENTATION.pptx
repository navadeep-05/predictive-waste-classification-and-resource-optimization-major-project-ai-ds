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02CA1F-AD49-4127-A508-FC9393B5331E}">
  <a:tblStyle styleId="{C602CA1F-AD49-4127-A508-FC9393B533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adeep Jakkamsetti" userId="1b8696bd0bc038e5" providerId="LiveId" clId="{79DDC66B-AC70-45D6-9D3B-3C30979499F8}"/>
    <pc:docChg chg="custSel modSld">
      <pc:chgData name="Navadeep Jakkamsetti" userId="1b8696bd0bc038e5" providerId="LiveId" clId="{79DDC66B-AC70-45D6-9D3B-3C30979499F8}" dt="2026-04-16T06:29:23.920" v="4" actId="20577"/>
      <pc:docMkLst>
        <pc:docMk/>
      </pc:docMkLst>
      <pc:sldChg chg="modSp mod">
        <pc:chgData name="Navadeep Jakkamsetti" userId="1b8696bd0bc038e5" providerId="LiveId" clId="{79DDC66B-AC70-45D6-9D3B-3C30979499F8}" dt="2026-04-16T06:29:23.920" v="4" actId="20577"/>
        <pc:sldMkLst>
          <pc:docMk/>
          <pc:sldMk cId="0" sldId="263"/>
        </pc:sldMkLst>
        <pc:spChg chg="mod">
          <ac:chgData name="Navadeep Jakkamsetti" userId="1b8696bd0bc038e5" providerId="LiveId" clId="{79DDC66B-AC70-45D6-9D3B-3C30979499F8}" dt="2026-04-16T06:29:23.920" v="4" actId="20577"/>
          <ac:spMkLst>
            <pc:docMk/>
            <pc:sldMk cId="0" sldId="263"/>
            <ac:spMk id="1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be82af6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be82af6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ebe82af6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ebe82af6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ebe82af6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ebe82af6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ebe82af6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ebe82af64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be82af6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be82af6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4f6f764d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4f6f764d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be82af6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ebe82af6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be82af6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ebe82af6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be82af6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ebe82af6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1332442" y="920613"/>
            <a:ext cx="9527100" cy="1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C00000"/>
                </a:solidFill>
              </a:rPr>
              <a:t>2026 International Conference for Convergence in Computing Technology (I3CTCON)</a:t>
            </a:r>
            <a:br>
              <a:rPr lang="en-US" sz="2800" b="1">
                <a:solidFill>
                  <a:srgbClr val="C00000"/>
                </a:solidFill>
              </a:rPr>
            </a:br>
            <a:r>
              <a:rPr lang="en-US" sz="2000" b="1">
                <a:solidFill>
                  <a:srgbClr val="0070C0"/>
                </a:solidFill>
              </a:rPr>
              <a:t>Venue: - Rhythm Lonavala: An All-Suite Resort , Lonavala, Maharashtra.</a:t>
            </a:r>
            <a:br>
              <a:rPr lang="en-US" sz="2000" b="1">
                <a:solidFill>
                  <a:srgbClr val="00B050"/>
                </a:solidFill>
              </a:rPr>
            </a:br>
            <a:endParaRPr sz="2000" b="1">
              <a:solidFill>
                <a:srgbClr val="00B0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1524004" y="2527300"/>
            <a:ext cx="9144000" cy="3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ct val="100000"/>
              <a:buNone/>
            </a:pPr>
            <a:r>
              <a:rPr lang="en-US" sz="5400" b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“A Hybrid Approach for Predictive Waste Classification and Resource Optimization using Deep Transfer Learning and Reinforcement Learning”</a:t>
            </a:r>
            <a:br>
              <a:rPr lang="en-US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C4C4C"/>
              </a:buClr>
              <a:buSzPct val="64864"/>
              <a:buNone/>
            </a:pPr>
            <a:endParaRPr b="1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C4C4C"/>
              </a:buClr>
              <a:buSzPct val="64864"/>
              <a:buNone/>
            </a:pPr>
            <a:r>
              <a:rPr lang="en-US" b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Paper ID: 2286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C4C4C"/>
              </a:buClr>
              <a:buSzPct val="64864"/>
              <a:buNone/>
            </a:pPr>
            <a:r>
              <a:rPr lang="en-US" b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Presenter &amp; Co-Author: Navadeep Jakkamsetti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C4C4C"/>
              </a:buClr>
              <a:buSzPct val="64864"/>
              <a:buNone/>
            </a:pPr>
            <a:r>
              <a:rPr lang="en-US" b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Affiliation: Vel Tech Rangarajan Dr. Sagunthala R&amp;D Institute of Science and Technology (Deemed to be University established under Section 3 of the UGC Act, 1956), Avadi, Chennai, Tamil Nadu, India</a:t>
            </a:r>
            <a:endParaRPr b="1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C4C4C"/>
              </a:buClr>
              <a:buSzPct val="64864"/>
              <a:buNone/>
            </a:pPr>
            <a:endParaRPr b="1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7009" y="5434220"/>
            <a:ext cx="2531165" cy="142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93" y="0"/>
            <a:ext cx="2780078" cy="5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757" y="5382661"/>
            <a:ext cx="2531165" cy="14237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5"/>
          <p:cNvGraphicFramePr/>
          <p:nvPr/>
        </p:nvGraphicFramePr>
        <p:xfrm>
          <a:off x="952500" y="1326013"/>
          <a:ext cx="10287000" cy="4206000"/>
        </p:xfrm>
        <a:graphic>
          <a:graphicData uri="http://schemas.openxmlformats.org/drawingml/2006/table">
            <a:tbl>
              <a:tblPr>
                <a:noFill/>
                <a:tableStyleId>{C602CA1F-AD49-4127-A508-FC9393B5331E}</a:tableStyleId>
              </a:tblPr>
              <a:tblGrid>
                <a:gridCol w="18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/>
                        <a:t>S.No.</a:t>
                      </a:r>
                      <a:endParaRPr sz="26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/>
                        <a:t>Contents</a:t>
                      </a:r>
                      <a:endParaRPr sz="26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Problem Statement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Proposed Solution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Methodology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4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Implementation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5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Results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6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Future Work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7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Q&amp;A Session</a:t>
                      </a:r>
                      <a:endParaRPr sz="220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0" name="Google Shape;70;p15"/>
          <p:cNvSpPr txBox="1"/>
          <p:nvPr/>
        </p:nvSpPr>
        <p:spPr>
          <a:xfrm>
            <a:off x="5226900" y="368250"/>
            <a:ext cx="17382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838200" y="18167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838200" y="1600200"/>
            <a:ext cx="10515600" cy="457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Rapid urbanization and industrial growth have led to massive increases in solid waste generation. Traditional waste management systems rely on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sorting and static routing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leading to: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6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Low recycling efficiency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landfill overflow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Loss of reusable resources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Increased carbon emissions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AI solutions: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6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only on </a:t>
            </a:r>
            <a:r>
              <a:rPr lang="en-US" sz="2000" b="1">
                <a:solidFill>
                  <a:schemeClr val="dk1"/>
                </a:solidFill>
              </a:rPr>
              <a:t>waste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only on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 b="1">
                <a:solidFill>
                  <a:schemeClr val="dk1"/>
                </a:solidFill>
              </a:rPr>
              <a:t>esource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chemeClr val="dk1"/>
                </a:solidFill>
              </a:rPr>
              <a:t>alloca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tion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757" y="5382661"/>
            <a:ext cx="2531165" cy="142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838200" y="908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838200" y="152080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8">
                <a:solidFill>
                  <a:schemeClr val="dk1"/>
                </a:solidFill>
              </a:rPr>
              <a:t>We developed an integrated AI-driven system consisting of:</a:t>
            </a:r>
            <a:endParaRPr sz="2108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108" b="1">
                <a:solidFill>
                  <a:schemeClr val="dk1"/>
                </a:solidFill>
              </a:rPr>
              <a:t>Waste Classification Module</a:t>
            </a:r>
            <a:endParaRPr sz="2108" b="1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108">
                <a:solidFill>
                  <a:schemeClr val="dk1"/>
                </a:solidFill>
              </a:rPr>
              <a:t>Uses ResNet50 model that classifies waste into plastic, paper, metal, glass, organic</a:t>
            </a:r>
            <a:endParaRPr sz="2108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108">
                <a:solidFill>
                  <a:schemeClr val="dk1"/>
                </a:solidFill>
              </a:rPr>
              <a:t>Categorizes the classified waste images into separate waste categories.</a:t>
            </a:r>
            <a:endParaRPr sz="2108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108">
                <a:solidFill>
                  <a:schemeClr val="dk1"/>
                </a:solidFill>
              </a:rPr>
              <a:t>Fine-tunes on domain specific waste dataset for better accuracy.</a:t>
            </a:r>
            <a:endParaRPr sz="2108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108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108" b="1">
                <a:solidFill>
                  <a:schemeClr val="dk1"/>
                </a:solidFill>
              </a:rPr>
              <a:t>Resource Optimization Module</a:t>
            </a:r>
            <a:endParaRPr sz="2108" b="1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108">
                <a:solidFill>
                  <a:schemeClr val="dk1"/>
                </a:solidFill>
              </a:rPr>
              <a:t>Uses Proximal Policy Optimization (PPO) agent that learns optimal routing decisions, bin allocation, resource optimization.</a:t>
            </a:r>
            <a:endParaRPr sz="2108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108">
                <a:solidFill>
                  <a:schemeClr val="dk1"/>
                </a:solidFill>
              </a:rPr>
              <a:t>Randomly generated dataset is used by considering factors like recycling facility capacity (per day), human labor for sorting/processing, number of bins, number of trucks, and truck routes for landfill or incineration.</a:t>
            </a:r>
            <a:endParaRPr sz="2108">
              <a:solidFill>
                <a:schemeClr val="dk1"/>
              </a:solidFill>
            </a:endParaRPr>
          </a:p>
          <a:p>
            <a:pPr marL="457200" lvl="0" indent="-3524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108">
                <a:solidFill>
                  <a:schemeClr val="dk1"/>
                </a:solidFill>
              </a:rPr>
              <a:t>Maximizes recycling reward &amp; minimizes landfill cost.</a:t>
            </a:r>
            <a:endParaRPr sz="2108">
              <a:solidFill>
                <a:schemeClr val="dk1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757" y="5382661"/>
            <a:ext cx="2531165" cy="142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767625" y="-1834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290725" y="1076850"/>
            <a:ext cx="8077200" cy="524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-US" sz="1500">
                <a:solidFill>
                  <a:srgbClr val="434343"/>
                </a:solidFill>
              </a:rPr>
              <a:t>The proposed system consists of four major stages: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160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solidFill>
                  <a:schemeClr val="dk1"/>
                </a:solidFill>
              </a:rPr>
              <a:t>Data Acquisition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RGB camera, dataset images or sensor inputs 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The images are resized to 224×224 for normalization and preprocessing 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solidFill>
                  <a:schemeClr val="dk1"/>
                </a:solidFill>
              </a:rPr>
              <a:t>Transfer Learning Classification</a:t>
            </a:r>
            <a:endParaRPr sz="15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-US" sz="1500">
                <a:solidFill>
                  <a:schemeClr val="dk1"/>
                </a:solidFill>
              </a:rPr>
              <a:t>Uses </a:t>
            </a:r>
            <a:r>
              <a:rPr lang="en-US" sz="1500" b="1">
                <a:solidFill>
                  <a:schemeClr val="dk1"/>
                </a:solidFill>
              </a:rPr>
              <a:t>ResNet50</a:t>
            </a:r>
            <a:r>
              <a:rPr lang="en-US" sz="1500">
                <a:solidFill>
                  <a:schemeClr val="dk1"/>
                </a:solidFill>
              </a:rPr>
              <a:t> pre-trained for classification</a:t>
            </a:r>
            <a:endParaRPr sz="16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Fine‑tuned on waste dataset 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solidFill>
                  <a:schemeClr val="dk1"/>
                </a:solidFill>
              </a:rPr>
              <a:t>Reinforcement Learning Decision Engine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Environment modeled as Markov Decision Process (MDP)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PPO agent optimizes routing and resource allocation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solidFill>
                  <a:schemeClr val="dk1"/>
                </a:solidFill>
              </a:rPr>
              <a:t>Waste Handling &amp; Feedback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Continuous feedback loop for system improvement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solidFill>
                  <a:schemeClr val="dk1"/>
                </a:solidFill>
              </a:rPr>
              <a:t>Evaluation &amp; Deployment</a:t>
            </a:r>
            <a:endParaRPr sz="15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</a:pPr>
            <a:r>
              <a:rPr lang="en-US" sz="1500">
                <a:solidFill>
                  <a:schemeClr val="dk1"/>
                </a:solidFill>
              </a:rPr>
              <a:t>System is deployed as a web application using</a:t>
            </a:r>
            <a:r>
              <a:rPr lang="en-US" sz="1500" b="1">
                <a:solidFill>
                  <a:schemeClr val="dk1"/>
                </a:solidFill>
              </a:rPr>
              <a:t> FastAPI</a:t>
            </a:r>
            <a:endParaRPr sz="19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Frontend sends waste images to backend APIs</a:t>
            </a:r>
            <a:endParaRPr sz="150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lang="en-US" sz="1500">
                <a:solidFill>
                  <a:srgbClr val="434343"/>
                </a:solidFill>
              </a:rPr>
              <a:t>Backend processes classification and optimization results and returns them to the interface. </a:t>
            </a:r>
            <a:endParaRPr sz="1500">
              <a:solidFill>
                <a:srgbClr val="434343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06832" y="4705311"/>
            <a:ext cx="2531165" cy="142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ChatGPT Pipe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075" y="934550"/>
            <a:ext cx="2607750" cy="5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838200" y="1444650"/>
            <a:ext cx="10515600" cy="478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Development Environment: </a:t>
            </a:r>
            <a:endParaRPr sz="1800" b="1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Google Colab (Model Training &amp; Experimentation)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VS Code (Local Integration &amp; Testing)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GitHub (Version Control &amp; Repository Management)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Frameworks &amp; Libraries Used:</a:t>
            </a:r>
            <a:endParaRPr sz="1800" b="1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TensorFlow / Keras 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ResNet50 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OpenCV (Image preprocessing)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Gymnasium (RL Environment Simulation)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Stable-Baselines3 (Implementation of PPO agent)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NumPy (State representation)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Matplotlib (Reward visualization)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Deployment &amp; Integration:</a:t>
            </a:r>
            <a:endParaRPr sz="1800" b="1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FastAPI (Backend &amp; Integration)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HTML,CSS,JS (Frontend UI components)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Render (Deployment)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757" y="5382661"/>
            <a:ext cx="2531165" cy="142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10332150" y="1825625"/>
            <a:ext cx="1021800" cy="73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757" y="5382661"/>
            <a:ext cx="2531165" cy="142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450" y="858300"/>
            <a:ext cx="4857049" cy="599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RL Base output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7450" y="1119699"/>
            <a:ext cx="6394449" cy="42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838200" y="970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8342500" y="1568125"/>
            <a:ext cx="3654900" cy="402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</a:rPr>
              <a:t>Reinforcement Learning (PPO) Results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Mean Training Reward: 15.7</a:t>
            </a:r>
            <a:br>
              <a:rPr lang="en-US" sz="1800" dirty="0">
                <a:solidFill>
                  <a:schemeClr val="dk1"/>
                </a:solidFill>
              </a:rPr>
            </a:b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Recycling Rate Improvement: </a:t>
            </a:r>
            <a:r>
              <a:rPr lang="en-US" sz="1800" b="1" dirty="0">
                <a:solidFill>
                  <a:schemeClr val="dk1"/>
                </a:solidFill>
              </a:rPr>
              <a:t>+28%</a:t>
            </a:r>
            <a:br>
              <a:rPr lang="en-US" sz="1800" b="1" dirty="0">
                <a:solidFill>
                  <a:schemeClr val="dk1"/>
                </a:solidFill>
              </a:rPr>
            </a:b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Landfill Reduction: </a:t>
            </a:r>
            <a:r>
              <a:rPr lang="en-US" sz="1800" b="1" dirty="0">
                <a:solidFill>
                  <a:schemeClr val="dk1"/>
                </a:solidFill>
              </a:rPr>
              <a:t>−18%</a:t>
            </a:r>
            <a:br>
              <a:rPr lang="en-US" sz="1800" b="1" dirty="0">
                <a:solidFill>
                  <a:schemeClr val="dk1"/>
                </a:solidFill>
              </a:rPr>
            </a:b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Estimated Monthly Cost Reduction: ~$800 (Simulated)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15" name="Google Shape;115;p21" title="RL_optimiz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8125"/>
            <a:ext cx="8413050" cy="446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Future Work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838200" y="1416750"/>
            <a:ext cx="10515600" cy="486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000"/>
              <a:buAutoNum type="arabicPeriod"/>
            </a:pPr>
            <a:r>
              <a:rPr lang="en-US" b="1">
                <a:solidFill>
                  <a:schemeClr val="dk1"/>
                </a:solidFill>
              </a:rPr>
              <a:t>Real-Time IoT Integration:</a:t>
            </a:r>
            <a:endParaRPr b="1"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>
                <a:solidFill>
                  <a:schemeClr val="dk1"/>
                </a:solidFill>
              </a:rPr>
              <a:t>Integration with smart bins equipped with Embedded cameras, weight sensors and camera sensors.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AutoNum type="arabicPeriod"/>
            </a:pPr>
            <a:r>
              <a:rPr lang="en-US" b="1">
                <a:solidFill>
                  <a:schemeClr val="dk1"/>
                </a:solidFill>
              </a:rPr>
              <a:t>Multi-Agent Reinforcement Learning (MARL):</a:t>
            </a:r>
            <a:endParaRPr b="1"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>
                <a:solidFill>
                  <a:schemeClr val="dk1"/>
                </a:solidFill>
              </a:rPr>
              <a:t>Extend single RL agent to multi-agent coordination.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>
                <a:solidFill>
                  <a:schemeClr val="dk1"/>
                </a:solidFill>
              </a:rPr>
              <a:t>Optimize multiple waste collection vehicles.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AutoNum type="arabicPeriod"/>
            </a:pPr>
            <a:r>
              <a:rPr lang="en-US" b="1">
                <a:solidFill>
                  <a:schemeClr val="dk1"/>
                </a:solidFill>
              </a:rPr>
              <a:t>Real-World Dataset Expansion:</a:t>
            </a:r>
            <a:endParaRPr b="1"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>
                <a:solidFill>
                  <a:schemeClr val="dk1"/>
                </a:solidFill>
              </a:rPr>
              <a:t>Collect region-specific waste images.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>
                <a:solidFill>
                  <a:schemeClr val="dk1"/>
                </a:solidFill>
              </a:rPr>
              <a:t>Address mixed-material waste challenges.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AutoNum type="arabicPeriod"/>
            </a:pPr>
            <a:r>
              <a:rPr lang="en-US" b="1">
                <a:solidFill>
                  <a:schemeClr val="dk1"/>
                </a:solidFill>
              </a:rPr>
              <a:t>Carbon Footprint &amp; Sustainability Metrics:</a:t>
            </a:r>
            <a:endParaRPr b="1"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>
                <a:solidFill>
                  <a:schemeClr val="dk1"/>
                </a:solidFill>
              </a:rPr>
              <a:t>Integrate carbon emission tracking.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●"/>
            </a:pPr>
            <a:r>
              <a:rPr lang="en-US">
                <a:solidFill>
                  <a:schemeClr val="dk1"/>
                </a:solidFill>
              </a:rPr>
              <a:t>Evaluate long-term environmental impact.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757" y="5382661"/>
            <a:ext cx="2531165" cy="142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838200" y="-582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Q&amp;A Session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177900" y="1148625"/>
            <a:ext cx="11175900" cy="51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Why did you choose ResNet50 over other CNN models?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600"/>
              </a:spcBef>
              <a:spcAft>
                <a:spcPts val="0"/>
              </a:spcAft>
              <a:buSzPts val="2200"/>
              <a:buChar char="➢"/>
            </a:pPr>
            <a:r>
              <a:rPr lang="en-US" sz="2200">
                <a:solidFill>
                  <a:schemeClr val="dk1"/>
                </a:solidFill>
              </a:rPr>
              <a:t>ResNet50 provides deeper representation learning with residual connections while maintaining manageable computational complexity.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Why did you use PPO/DQN for optimization?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600"/>
              </a:spcBef>
              <a:spcAft>
                <a:spcPts val="0"/>
              </a:spcAft>
              <a:buSzPts val="2200"/>
              <a:buChar char="➢"/>
            </a:pPr>
            <a:r>
              <a:rPr lang="en-US" sz="2200">
                <a:solidFill>
                  <a:schemeClr val="dk1"/>
                </a:solidFill>
              </a:rPr>
              <a:t>Waste routing is a sequential decision-making problem. PPO offers stable training. DQN is suitable for discrete action spaces.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How is your work different from existing waste classification systems?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600"/>
              </a:spcBef>
              <a:spcAft>
                <a:spcPts val="0"/>
              </a:spcAft>
              <a:buSzPts val="2200"/>
              <a:buChar char="➢"/>
            </a:pPr>
            <a:r>
              <a:rPr lang="en-US" sz="2200">
                <a:solidFill>
                  <a:schemeClr val="dk1"/>
                </a:solidFill>
              </a:rPr>
              <a:t>Most works focus only on classification. Some focus only on routing optimization. Our contribution is an integrated framework combining Deep Learning and Reinforcement Learning.	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What are the limitations of your system?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600"/>
              </a:spcBef>
              <a:spcAft>
                <a:spcPts val="0"/>
              </a:spcAft>
              <a:buSzPts val="2200"/>
              <a:buChar char="➢"/>
            </a:pPr>
            <a:r>
              <a:rPr lang="en-US" sz="2200">
                <a:solidFill>
                  <a:schemeClr val="dk1"/>
                </a:solidFill>
              </a:rPr>
              <a:t>The primary limitation is dataset generalization and simulation-based evaluation.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3632" y="5434211"/>
            <a:ext cx="2531165" cy="142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THANK YOU</a:t>
            </a:r>
            <a:endParaRPr sz="7200"/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757" y="5382661"/>
            <a:ext cx="2531165" cy="142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Widescreen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Simple Light</vt:lpstr>
      <vt:lpstr>2026 International Conference for Convergence in Computing Technology (I3CTCON) Venue: - Rhythm Lonavala: An All-Suite Resort , Lonavala, Maharashtra. </vt:lpstr>
      <vt:lpstr>PowerPoint Presentation</vt:lpstr>
      <vt:lpstr>Problem Statement</vt:lpstr>
      <vt:lpstr>Proposed Solution</vt:lpstr>
      <vt:lpstr>Methodology</vt:lpstr>
      <vt:lpstr>Implementation</vt:lpstr>
      <vt:lpstr>Results</vt:lpstr>
      <vt:lpstr>Results</vt:lpstr>
      <vt:lpstr>Future Work</vt:lpstr>
      <vt:lpstr>Q&amp;A Session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Navadeep Jakkamsetti</cp:lastModifiedBy>
  <cp:revision>1</cp:revision>
  <dcterms:modified xsi:type="dcterms:W3CDTF">2026-04-16T06:29:34Z</dcterms:modified>
</cp:coreProperties>
</file>